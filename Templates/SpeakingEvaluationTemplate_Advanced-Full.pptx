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sldIdLst>
    <p:sldId id="258" r:id="rId2"/>
    <p:sldId id="261" r:id="rId3"/>
  </p:sldIdLst>
  <p:sldSz cx="6858000" cy="9906000" type="A4"/>
  <p:notesSz cx="6735763" cy="9866313"/>
  <p:embeddedFontLst>
    <p:embeddedFont>
      <p:font typeface="Arial Black" panose="020B0A04020102020204" pitchFamily="34" charset="0"/>
      <p:bold r:id="rId4"/>
    </p:embeddedFont>
    <p:embeddedFont>
      <p:font typeface="Arial Narrow" panose="020B0606020202030204" pitchFamily="34" charset="0"/>
      <p:regular r:id="rId5"/>
      <p:bold r:id="rId6"/>
      <p:italic r:id="rId7"/>
      <p:boldItalic r:id="rId8"/>
    </p:embeddedFont>
    <p:embeddedFont>
      <p:font typeface="Just Another Hand" panose="02000506000000020003" pitchFamily="2" charset="0"/>
      <p:regular r:id="rId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B11116"/>
    <a:srgbClr val="E5E5E7"/>
    <a:srgbClr val="D6D6D8"/>
    <a:srgbClr val="6D6E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84" autoAdjust="0"/>
    <p:restoredTop sz="94660"/>
  </p:normalViewPr>
  <p:slideViewPr>
    <p:cSldViewPr snapToGrid="0">
      <p:cViewPr varScale="1">
        <p:scale>
          <a:sx n="69" d="100"/>
          <a:sy n="69" d="100"/>
        </p:scale>
        <p:origin x="26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ing Evalu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Comment Box"/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3461805955"/>
              </p:ext>
            </p:extLst>
          </p:nvPr>
        </p:nvGraphicFramePr>
        <p:xfrm>
          <a:off x="219053" y="8008376"/>
          <a:ext cx="6419895" cy="1440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9895">
                  <a:extLst>
                    <a:ext uri="{9D8B030D-6E8A-4147-A177-3AD203B41FA5}">
                      <a16:colId xmlns:a16="http://schemas.microsoft.com/office/drawing/2014/main" val="2888324031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05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Arial" panose="020B0604020202020204" pitchFamily="34" charset="0"/>
                        </a:rPr>
                        <a:t>Comments </a:t>
                      </a:r>
                      <a:r>
                        <a:rPr kumimoji="0" lang="ko-KR" altLang="en-US" sz="105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Arial" panose="020B0604020202020204" pitchFamily="34" charset="0"/>
                        </a:rPr>
                        <a:t>코멘트</a:t>
                      </a:r>
                      <a:endParaRPr lang="ko-KR" altLang="en-US" sz="1050" dirty="0">
                        <a:latin typeface="Arial Black" panose="020B0A040201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890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86868"/>
                  </a:ext>
                </a:extLst>
              </a:tr>
            </a:tbl>
          </a:graphicData>
        </a:graphic>
      </p:graphicFrame>
      <p:sp>
        <p:nvSpPr>
          <p:cNvPr id="33" name="Signature Label"/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521862" y="9510205"/>
            <a:ext cx="17231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B11116"/>
                </a:solidFill>
                <a:latin typeface="Arial Narrow" panose="020B0606020202030204" pitchFamily="34" charset="0"/>
              </a:rPr>
              <a:t>Native Teacher Signature:</a:t>
            </a:r>
            <a:endParaRPr lang="ko-KR" altLang="en-US" sz="1200" b="1" dirty="0">
              <a:solidFill>
                <a:srgbClr val="B11116"/>
              </a:solidFill>
              <a:latin typeface="Arial Narrow" panose="020B0606020202030204" pitchFamily="34" charset="0"/>
            </a:endParaRPr>
          </a:p>
        </p:txBody>
      </p:sp>
      <p:grpSp>
        <p:nvGrpSpPr>
          <p:cNvPr id="24" name="Report Header">
            <a:extLst>
              <a:ext uri="{FF2B5EF4-FFF2-40B4-BE49-F238E27FC236}">
                <a16:creationId xmlns:a16="http://schemas.microsoft.com/office/drawing/2014/main" id="{3B0C9DDE-3285-0F74-1E0F-6F998745118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0"/>
            <a:ext cx="6858001" cy="1196340"/>
            <a:chOff x="0" y="0"/>
            <a:chExt cx="6858001" cy="1196340"/>
          </a:xfrm>
        </p:grpSpPr>
        <p:sp>
          <p:nvSpPr>
            <p:cNvPr id="2" name="DYB Logo Background">
              <a:extLst>
                <a:ext uri="{FF2B5EF4-FFF2-40B4-BE49-F238E27FC236}">
                  <a16:creationId xmlns:a16="http://schemas.microsoft.com/office/drawing/2014/main" id="{517982AA-60B2-451C-4B16-BF57F9677C8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0"/>
              <a:ext cx="1276350" cy="1196340"/>
            </a:xfrm>
            <a:prstGeom prst="rect">
              <a:avLst/>
            </a:prstGeom>
            <a:solidFill>
              <a:srgbClr val="E5E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" name="DYB Logo">
              <a:extLst>
                <a:ext uri="{FF2B5EF4-FFF2-40B4-BE49-F238E27FC236}">
                  <a16:creationId xmlns:a16="http://schemas.microsoft.com/office/drawing/2014/main" id="{8B9392A0-D4F3-24E1-94A9-C59956748DE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480" y="206490"/>
              <a:ext cx="966369" cy="791971"/>
            </a:xfrm>
            <a:prstGeom prst="rect">
              <a:avLst/>
            </a:prstGeom>
          </p:spPr>
        </p:pic>
        <p:sp>
          <p:nvSpPr>
            <p:cNvPr id="4" name="Report Header Background">
              <a:extLst>
                <a:ext uri="{FF2B5EF4-FFF2-40B4-BE49-F238E27FC236}">
                  <a16:creationId xmlns:a16="http://schemas.microsoft.com/office/drawing/2014/main" id="{A9745524-4366-7A39-3117-878A2CE42B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76350" y="1"/>
              <a:ext cx="5581651" cy="1195833"/>
            </a:xfrm>
            <a:prstGeom prst="rect">
              <a:avLst/>
            </a:prstGeom>
            <a:solidFill>
              <a:srgbClr val="B111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Report Header Text">
              <a:extLst>
                <a:ext uri="{FF2B5EF4-FFF2-40B4-BE49-F238E27FC236}">
                  <a16:creationId xmlns:a16="http://schemas.microsoft.com/office/drawing/2014/main" id="{87B7D39C-F9E5-F357-3F9F-8212AC20082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503636" y="59307"/>
              <a:ext cx="316313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3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SPEAKING</a:t>
              </a:r>
            </a:p>
            <a:p>
              <a:r>
                <a:rPr lang="en-US" altLang="ko-KR" sz="3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EVALUATION</a:t>
              </a:r>
              <a:endParaRPr lang="ko-KR" altLang="en-US" sz="32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8" name="Eval Date Background">
              <a:extLst>
                <a:ext uri="{FF2B5EF4-FFF2-40B4-BE49-F238E27FC236}">
                  <a16:creationId xmlns:a16="http://schemas.microsoft.com/office/drawing/2014/main" id="{78252F05-685D-FD6D-8DF0-F3C63E4CD26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4867275" y="178119"/>
              <a:ext cx="1648562" cy="3189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Grade-Level Background">
              <a:extLst>
                <a:ext uri="{FF2B5EF4-FFF2-40B4-BE49-F238E27FC236}">
                  <a16:creationId xmlns:a16="http://schemas.microsoft.com/office/drawing/2014/main" id="{1443E3C0-F69F-C77D-83B9-585A01CA786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245057" y="665745"/>
              <a:ext cx="1270780" cy="3189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" name="English Name">
            <a:extLst>
              <a:ext uri="{FF2B5EF4-FFF2-40B4-BE49-F238E27FC236}">
                <a16:creationId xmlns:a16="http://schemas.microsoft.com/office/drawing/2014/main" id="{90C35B8F-A8A4-8ABB-FE31-CDFBC966B43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221881" y="1304278"/>
            <a:ext cx="2763556" cy="318983"/>
            <a:chOff x="221881" y="1304278"/>
            <a:chExt cx="2426072" cy="318983"/>
          </a:xfrm>
        </p:grpSpPr>
        <p:sp>
          <p:nvSpPr>
            <p:cNvPr id="7" name="Background">
              <a:extLst>
                <a:ext uri="{FF2B5EF4-FFF2-40B4-BE49-F238E27FC236}">
                  <a16:creationId xmlns:a16="http://schemas.microsoft.com/office/drawing/2014/main" id="{A6C5E523-6407-73A9-28A2-128CD5739E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9503" y="1304278"/>
              <a:ext cx="2418450" cy="318983"/>
            </a:xfrm>
            <a:prstGeom prst="rect">
              <a:avLst/>
            </a:prstGeom>
            <a:solidFill>
              <a:srgbClr val="E5E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Label">
              <a:extLst>
                <a:ext uri="{FF2B5EF4-FFF2-40B4-BE49-F238E27FC236}">
                  <a16:creationId xmlns:a16="http://schemas.microsoft.com/office/drawing/2014/main" id="{FF0F65F1-593C-338B-E5B8-ECC1472B8EF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1881" y="1325270"/>
              <a:ext cx="92569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B11116"/>
                  </a:solidFill>
                  <a:latin typeface="Arial Narrow" panose="020B0606020202030204" pitchFamily="34" charset="0"/>
                </a:rPr>
                <a:t>English Name:</a:t>
              </a:r>
              <a:endParaRPr lang="ko-KR" altLang="en-US" sz="1200" b="1" dirty="0">
                <a:solidFill>
                  <a:srgbClr val="B11116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9" name="Korean Name">
            <a:extLst>
              <a:ext uri="{FF2B5EF4-FFF2-40B4-BE49-F238E27FC236}">
                <a16:creationId xmlns:a16="http://schemas.microsoft.com/office/drawing/2014/main" id="{4E17706F-EF70-E046-E349-F0C97F3A734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3058420" y="1304278"/>
            <a:ext cx="2113653" cy="318983"/>
            <a:chOff x="2746512" y="1304278"/>
            <a:chExt cx="2120761" cy="318983"/>
          </a:xfrm>
        </p:grpSpPr>
        <p:sp>
          <p:nvSpPr>
            <p:cNvPr id="10" name="Background">
              <a:extLst>
                <a:ext uri="{FF2B5EF4-FFF2-40B4-BE49-F238E27FC236}">
                  <a16:creationId xmlns:a16="http://schemas.microsoft.com/office/drawing/2014/main" id="{3CA407C4-7D1F-C98B-5AFB-472C26A236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46512" y="1304278"/>
              <a:ext cx="2120761" cy="318983"/>
            </a:xfrm>
            <a:prstGeom prst="rect">
              <a:avLst/>
            </a:prstGeom>
            <a:solidFill>
              <a:srgbClr val="E5E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Label">
              <a:extLst>
                <a:ext uri="{FF2B5EF4-FFF2-40B4-BE49-F238E27FC236}">
                  <a16:creationId xmlns:a16="http://schemas.microsoft.com/office/drawing/2014/main" id="{8F21A0AA-D8BB-CD9C-C612-F5ACF86B7FA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46514" y="1325270"/>
              <a:ext cx="1161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B11116"/>
                  </a:solidFill>
                  <a:latin typeface="Arial Narrow" panose="020B0606020202030204" pitchFamily="34" charset="0"/>
                </a:rPr>
                <a:t>Korean Name:</a:t>
              </a:r>
              <a:endParaRPr lang="ko-KR" altLang="en-US" sz="1200" b="1" dirty="0">
                <a:solidFill>
                  <a:srgbClr val="B11116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2" name="Native Teacher">
            <a:extLst>
              <a:ext uri="{FF2B5EF4-FFF2-40B4-BE49-F238E27FC236}">
                <a16:creationId xmlns:a16="http://schemas.microsoft.com/office/drawing/2014/main" id="{D964476F-01AB-17E2-0F53-84E8B01E6E6F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221880" y="1682019"/>
            <a:ext cx="2763556" cy="318983"/>
            <a:chOff x="221881" y="1682019"/>
            <a:chExt cx="2426071" cy="318983"/>
          </a:xfrm>
        </p:grpSpPr>
        <p:sp>
          <p:nvSpPr>
            <p:cNvPr id="13" name="Background">
              <a:extLst>
                <a:ext uri="{FF2B5EF4-FFF2-40B4-BE49-F238E27FC236}">
                  <a16:creationId xmlns:a16="http://schemas.microsoft.com/office/drawing/2014/main" id="{287B7878-2464-EAD5-55F6-92D296DEB3C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9502" y="1682019"/>
              <a:ext cx="2418450" cy="318983"/>
            </a:xfrm>
            <a:prstGeom prst="rect">
              <a:avLst/>
            </a:prstGeom>
            <a:solidFill>
              <a:srgbClr val="E5E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Label">
              <a:extLst>
                <a:ext uri="{FF2B5EF4-FFF2-40B4-BE49-F238E27FC236}">
                  <a16:creationId xmlns:a16="http://schemas.microsoft.com/office/drawing/2014/main" id="{1956C3E6-F74C-5CCF-0305-310EF5AE7F9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1881" y="1703011"/>
              <a:ext cx="925698" cy="276999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r>
                <a:rPr lang="en-US" altLang="ko-KR" sz="1200" b="1" dirty="0">
                  <a:solidFill>
                    <a:srgbClr val="B11116"/>
                  </a:solidFill>
                  <a:latin typeface="Arial Narrow" panose="020B0606020202030204" pitchFamily="34" charset="0"/>
                </a:rPr>
                <a:t>Native Teacher:</a:t>
              </a:r>
              <a:endParaRPr lang="ko-KR" altLang="en-US" sz="1200" b="1" dirty="0">
                <a:solidFill>
                  <a:srgbClr val="B11116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5" name="Korean Teacher">
            <a:extLst>
              <a:ext uri="{FF2B5EF4-FFF2-40B4-BE49-F238E27FC236}">
                <a16:creationId xmlns:a16="http://schemas.microsoft.com/office/drawing/2014/main" id="{AD43325E-F756-5F88-BA8B-43A2DD9FACB8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3058420" y="1682019"/>
            <a:ext cx="2113653" cy="318983"/>
            <a:chOff x="2746512" y="1682019"/>
            <a:chExt cx="2120761" cy="318983"/>
          </a:xfrm>
        </p:grpSpPr>
        <p:sp>
          <p:nvSpPr>
            <p:cNvPr id="16" name="Background">
              <a:extLst>
                <a:ext uri="{FF2B5EF4-FFF2-40B4-BE49-F238E27FC236}">
                  <a16:creationId xmlns:a16="http://schemas.microsoft.com/office/drawing/2014/main" id="{AB546B3D-8343-D972-5B79-ABE3A88128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46512" y="1682019"/>
              <a:ext cx="2120761" cy="318983"/>
            </a:xfrm>
            <a:prstGeom prst="rect">
              <a:avLst/>
            </a:prstGeom>
            <a:solidFill>
              <a:srgbClr val="E5E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Label">
              <a:extLst>
                <a:ext uri="{FF2B5EF4-FFF2-40B4-BE49-F238E27FC236}">
                  <a16:creationId xmlns:a16="http://schemas.microsoft.com/office/drawing/2014/main" id="{4671CC89-A775-F458-DE6C-D1BEDC4D75B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46513" y="1703011"/>
              <a:ext cx="1161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rgbClr val="B11116"/>
                  </a:solidFill>
                  <a:latin typeface="Arial Narrow" panose="020B0606020202030204" pitchFamily="34" charset="0"/>
                </a:rPr>
                <a:t>Korean Teacher:</a:t>
              </a:r>
              <a:endParaRPr lang="ko-KR" altLang="en-US" sz="1200" b="1" dirty="0">
                <a:solidFill>
                  <a:srgbClr val="B11116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20" name="Overall_Grade">
            <a:extLst>
              <a:ext uri="{FF2B5EF4-FFF2-40B4-BE49-F238E27FC236}">
                <a16:creationId xmlns:a16="http://schemas.microsoft.com/office/drawing/2014/main" id="{96EED462-4ACF-CCEB-4633-84F08650E5C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5245055" y="1298675"/>
            <a:ext cx="1384398" cy="696724"/>
            <a:chOff x="5245055" y="1298675"/>
            <a:chExt cx="1384398" cy="696724"/>
          </a:xfrm>
        </p:grpSpPr>
        <p:sp>
          <p:nvSpPr>
            <p:cNvPr id="21" name="Background">
              <a:extLst>
                <a:ext uri="{FF2B5EF4-FFF2-40B4-BE49-F238E27FC236}">
                  <a16:creationId xmlns:a16="http://schemas.microsoft.com/office/drawing/2014/main" id="{89350671-E684-4118-8B84-D6CF9F93EAE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245056" y="1298675"/>
              <a:ext cx="1384397" cy="696724"/>
            </a:xfrm>
            <a:prstGeom prst="rect">
              <a:avLst/>
            </a:prstGeom>
            <a:solidFill>
              <a:srgbClr val="E5E5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Label">
              <a:extLst>
                <a:ext uri="{FF2B5EF4-FFF2-40B4-BE49-F238E27FC236}">
                  <a16:creationId xmlns:a16="http://schemas.microsoft.com/office/drawing/2014/main" id="{E81025A5-3FA5-DD11-D382-851C61539A4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245055" y="1718400"/>
              <a:ext cx="13834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rgbClr val="B11116"/>
                  </a:solidFill>
                  <a:latin typeface="Arial Narrow" panose="020B0606020202030204" pitchFamily="34" charset="0"/>
                </a:rPr>
                <a:t>OVERALL GRADE</a:t>
              </a:r>
              <a:endParaRPr lang="ko-KR" altLang="en-US" sz="1200" b="1" dirty="0">
                <a:solidFill>
                  <a:srgbClr val="B11116"/>
                </a:solidFill>
                <a:latin typeface="Arial Narrow" panose="020B0606020202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4731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dditional Com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48961618"/>
              </p:ext>
            </p:extLst>
          </p:nvPr>
        </p:nvGraphicFramePr>
        <p:xfrm>
          <a:off x="219053" y="1442476"/>
          <a:ext cx="6419895" cy="308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9895">
                  <a:extLst>
                    <a:ext uri="{9D8B030D-6E8A-4147-A177-3AD203B41FA5}">
                      <a16:colId xmlns:a16="http://schemas.microsoft.com/office/drawing/2014/main" val="2888324031"/>
                    </a:ext>
                  </a:extLst>
                </a:gridCol>
              </a:tblGrid>
              <a:tr h="214313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05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Comments </a:t>
                      </a:r>
                      <a:r>
                        <a:rPr kumimoji="0" lang="ko-KR" altLang="en-US" sz="105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코멘트</a:t>
                      </a:r>
                      <a:endParaRPr lang="ko-KR" altLang="en-US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890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en-US" altLang="ko-KR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atinLnBrk="1"/>
                      <a:endParaRPr lang="ko-KR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86868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 userDrawn="1"/>
        </p:nvSpPr>
        <p:spPr>
          <a:xfrm>
            <a:off x="0" y="0"/>
            <a:ext cx="1276350" cy="1196340"/>
          </a:xfrm>
          <a:prstGeom prst="rect">
            <a:avLst/>
          </a:prstGeom>
          <a:solidFill>
            <a:srgbClr val="E5E5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80" y="206490"/>
            <a:ext cx="966369" cy="791971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1276350" y="1"/>
            <a:ext cx="5581651" cy="1195833"/>
          </a:xfrm>
          <a:prstGeom prst="rect">
            <a:avLst/>
          </a:prstGeom>
          <a:solidFill>
            <a:srgbClr val="B111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503636" y="59307"/>
            <a:ext cx="4038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SPEAKING</a:t>
            </a:r>
          </a:p>
          <a:p>
            <a:r>
              <a:rPr lang="en-US" altLang="ko-KR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EVALUATION</a:t>
            </a:r>
            <a:endParaRPr lang="ko-KR" altLang="en-US" sz="3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754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9331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0" r:id="rId2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mments"/>
          <p:cNvSpPr txBox="1"/>
          <p:nvPr/>
        </p:nvSpPr>
        <p:spPr>
          <a:xfrm>
            <a:off x="223802" y="8269783"/>
            <a:ext cx="64103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500" dirty="0">
                <a:latin typeface="Just Another Hand" panose="02000506000000020003" pitchFamily="2" charset="0"/>
                <a:cs typeface="Arial" panose="020B0604020202020204" pitchFamily="34" charset="0"/>
              </a:rPr>
              <a:t>Comment</a:t>
            </a:r>
            <a:endParaRPr lang="ko-KR" altLang="en-US" sz="1500" dirty="0">
              <a:latin typeface="Just Another Hand" panose="02000506000000020003" pitchFamily="2" charset="0"/>
              <a:cs typeface="Arial" panose="020B0604020202020204" pitchFamily="34" charset="0"/>
            </a:endParaRPr>
          </a:p>
        </p:txBody>
      </p:sp>
      <p:graphicFrame>
        <p:nvGraphicFramePr>
          <p:cNvPr id="36" name="Report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522313"/>
              </p:ext>
            </p:extLst>
          </p:nvPr>
        </p:nvGraphicFramePr>
        <p:xfrm>
          <a:off x="229026" y="2124329"/>
          <a:ext cx="6400424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024">
                  <a:extLst>
                    <a:ext uri="{9D8B030D-6E8A-4147-A177-3AD203B41FA5}">
                      <a16:colId xmlns:a16="http://schemas.microsoft.com/office/drawing/2014/main" val="247911015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3806264517"/>
                    </a:ext>
                  </a:extLst>
                </a:gridCol>
                <a:gridCol w="937270">
                  <a:extLst>
                    <a:ext uri="{9D8B030D-6E8A-4147-A177-3AD203B41FA5}">
                      <a16:colId xmlns:a16="http://schemas.microsoft.com/office/drawing/2014/main" val="3277761772"/>
                    </a:ext>
                  </a:extLst>
                </a:gridCol>
                <a:gridCol w="937270">
                  <a:extLst>
                    <a:ext uri="{9D8B030D-6E8A-4147-A177-3AD203B41FA5}">
                      <a16:colId xmlns:a16="http://schemas.microsoft.com/office/drawing/2014/main" val="3833310422"/>
                    </a:ext>
                  </a:extLst>
                </a:gridCol>
                <a:gridCol w="937270">
                  <a:extLst>
                    <a:ext uri="{9D8B030D-6E8A-4147-A177-3AD203B41FA5}">
                      <a16:colId xmlns:a16="http://schemas.microsoft.com/office/drawing/2014/main" val="662001239"/>
                    </a:ext>
                  </a:extLst>
                </a:gridCol>
                <a:gridCol w="937270">
                  <a:extLst>
                    <a:ext uri="{9D8B030D-6E8A-4147-A177-3AD203B41FA5}">
                      <a16:colId xmlns:a16="http://schemas.microsoft.com/office/drawing/2014/main" val="1534224506"/>
                    </a:ext>
                  </a:extLst>
                </a:gridCol>
                <a:gridCol w="937270">
                  <a:extLst>
                    <a:ext uri="{9D8B030D-6E8A-4147-A177-3AD203B41FA5}">
                      <a16:colId xmlns:a16="http://schemas.microsoft.com/office/drawing/2014/main" val="136958254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kumimoji="0" lang="en-US" altLang="ko-KR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Grammar </a:t>
                      </a:r>
                      <a:r>
                        <a:rPr kumimoji="0" lang="ko-KR" alt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문법</a:t>
                      </a:r>
                      <a:endParaRPr lang="en-US" sz="1000" b="1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A+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B+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20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Subject-Verb Agreement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Verb Tenses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Pronouns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Prepositions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Articles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Plurals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Correct Vocabulary Use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Sentence Structure</a:t>
                      </a:r>
                      <a:endParaRPr kumimoji="0" lang="en-US" sz="6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sz="2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맑은 고딕"/>
                          <a:cs typeface="Times New Roman"/>
                        </a:rPr>
                        <a:t>Applies advanced grammar concepts accurately; little to no grammar errors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Advanced grammar concepts are used, but with some errors; sometimes mistakes nuances in articles, prepositions, etc.</a:t>
                      </a:r>
                      <a:endParaRPr kumimoji="0" lang="en-US" sz="9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Unsure about how to use advanced grammar concepts correctly; frequently making mistakes in basic grammar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Only basic sentence structures are used; many errors in basic concepts like verb tenses and agreement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An abundance of grammar errors impedes  comprehension</a:t>
                      </a:r>
                      <a:endParaRPr kumimoji="0" lang="en-US" sz="9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87999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Pronunciation </a:t>
                      </a:r>
                      <a:r>
                        <a:rPr kumimoji="0" lang="ko-KR" alt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발음</a:t>
                      </a:r>
                      <a:endParaRPr kumimoji="0" lang="en-US" altLang="ko-KR" sz="1050" b="1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11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A+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B+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916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Use of </a:t>
                      </a:r>
                      <a:r>
                        <a:rPr kumimoji="0" lang="en-US" altLang="ko-KR" sz="600" b="0" i="0" u="none" strike="noStrike" kern="1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Konglish</a:t>
                      </a:r>
                      <a:endParaRPr kumimoji="0" lang="en-US" altLang="ko-KR" sz="6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Clarity / Mumbling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Difficult Vocabulary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Accent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Syllable Division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Proper Syllable Emphasis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altLang="ko-KR" sz="2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Natural pronunciation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with no errors that impede vocabulary comprehension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Good overall pronunciation, but some occasional odd words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Understandable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pronunciation, but some errors in specific sounds, letters, or syllable division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0" latinLnBrk="0" hangingPunct="0"/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Pronunciation errors in both advanced and basic vocabulary; beginning to impede understanding</a:t>
                      </a:r>
                      <a:endParaRPr lang="en-US" sz="1200" dirty="0"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Excessive use of Konglish;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many words are not comprehensible</a:t>
                      </a:r>
                      <a:endParaRPr lang="en-US" sz="9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5214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Fluency </a:t>
                      </a:r>
                      <a:r>
                        <a:rPr kumimoji="0" lang="ko-KR" alt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유창성</a:t>
                      </a:r>
                      <a:endParaRPr lang="en-US" altLang="ko-KR" sz="1000" b="1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11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A+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B+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418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Flow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Varying Intonation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Speaking Pace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Pausing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54557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en-US" altLang="ko-KR" sz="2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Natural flow and appropriate pausing; dynamic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range of tone; speaks with an engaging tone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Decent flow with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appropriate</a:t>
                      </a: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pausing; Some range of tone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Occasional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awkward pauses in the middle of sentences; most sentences spoken with the same intonation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Overuse of filler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w</a:t>
                      </a: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ords (umm/like); some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long pauses begin to impede listener understanding</a:t>
                      </a:r>
                      <a:endParaRPr lang="en-US" sz="800" dirty="0"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Stopped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speaking suddenly and could not resume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943904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Manner </a:t>
                      </a:r>
                      <a:r>
                        <a:rPr kumimoji="0" lang="ko-KR" alt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태도</a:t>
                      </a:r>
                      <a:endParaRPr lang="en-US" altLang="ko-KR" sz="1000" b="1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11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A+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B+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634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Volume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Eye Contact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Energy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Emotion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Posture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Body Language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Gestures</a:t>
                      </a:r>
                      <a:endParaRPr kumimoji="0" lang="en-US" altLang="ko-KR" sz="6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2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Consistent eye contact across the audience;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natural gestures and emotion;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confident body language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Often makes eye contact and uses some gestures;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developing relevant emotion in speech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Occasional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eye contact and an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attempt at using gestures; lacking in relevant  emotion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eaLnBrk="0" latinLnBrk="0" hangingPunct="0"/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Rarely makes eye contact; overreliance on notes; stiff body language;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flat emotion throughout</a:t>
                      </a:r>
                      <a:endParaRPr lang="en-US" sz="800" dirty="0"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No eye contact;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volume is too soft to hear well; no use of gestures; completely relies on script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46778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Content </a:t>
                      </a:r>
                      <a:r>
                        <a:rPr kumimoji="0" lang="ko-KR" alt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내용</a:t>
                      </a:r>
                      <a:endParaRPr lang="en-US" altLang="ko-KR" sz="1200" b="1" dirty="0">
                        <a:solidFill>
                          <a:sysClr val="windowText" lastClr="000000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11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A+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B+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140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Details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Reasons &amp; Examples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Organization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Logic &amp; Relevance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Level of Vocabulary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0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/>
                        <a:buNone/>
                        <a:tabLst/>
                        <a:defRPr/>
                      </a:pPr>
                      <a:endParaRPr kumimoji="0" lang="en-US" altLang="ko-KR" sz="2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Creative and interesting ideas</a:t>
                      </a:r>
                    </a:p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Logical arguments and organization of ideas</a:t>
                      </a:r>
                    </a:p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Effective use of details &amp; examples</a:t>
                      </a:r>
                    </a:p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Use of advanced vocabulary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Relevant information,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but lacking explanation, detail, or examples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Reliance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on basic </a:t>
                      </a: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vocabulary</a:t>
                      </a:r>
                    </a:p>
                    <a:p>
                      <a:pPr marL="115888" marR="0" lvl="0" indent="-115888" algn="l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맑은 고딕"/>
                          <a:cs typeface="Times New Roman"/>
                        </a:rPr>
                        <a:t>Organization needs improvement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1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Content</a:t>
                      </a:r>
                      <a:r>
                        <a:rPr lang="en-US" sz="800" kern="100" baseline="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was irrelevant or unsupported; only very basic vocabulary used</a:t>
                      </a:r>
                      <a:endParaRPr lang="en-US" sz="800" kern="1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78836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Overall Effort </a:t>
                      </a:r>
                      <a:r>
                        <a:rPr kumimoji="0" lang="ko-KR" altLang="en-US" sz="1000" b="1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준비도</a:t>
                      </a:r>
                      <a:endParaRPr kumimoji="0" lang="en-US" altLang="ko-KR" sz="1000" b="1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11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A+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5455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B+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308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Effort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Prepared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Memorization</a:t>
                      </a:r>
                    </a:p>
                    <a:p>
                      <a:pPr marL="88900" marR="0" lvl="0" indent="-74613" algn="l" defTabSz="65455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ts val="300"/>
                        <a:buFont typeface="Wingdings"/>
                        <a:buChar char=""/>
                        <a:tabLst/>
                        <a:defRPr/>
                      </a:pPr>
                      <a:r>
                        <a:rPr kumimoji="0" lang="en-US" altLang="ko-KR" sz="6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Visual Aids</a:t>
                      </a: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2000" b="0" i="0" u="none" strike="noStrike" kern="1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Black" panose="020B0A04020102020204" pitchFamily="34" charset="0"/>
                        <a:ea typeface="맑은 고딕"/>
                        <a:cs typeface="Times New Roman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/>
                      <a:r>
                        <a:rPr lang="en-US" sz="800" kern="10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A great amount of effort has been put in;</a:t>
                      </a:r>
                      <a:r>
                        <a:rPr lang="en-US" sz="800" kern="100" baseline="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 excellent and thorough preparation was done</a:t>
                      </a:r>
                      <a:endParaRPr lang="en-US" sz="800" kern="100" dirty="0">
                        <a:effectLst/>
                        <a:latin typeface="Arial Narrow" panose="020B0606020202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/>
                      <a:r>
                        <a:rPr lang="en-US" sz="800" kern="10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A good amount of effort has been put in;</a:t>
                      </a:r>
                      <a:r>
                        <a:rPr lang="en-US" sz="800" kern="100" baseline="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 clear evidence of preparation</a:t>
                      </a:r>
                      <a:endParaRPr lang="en-US" sz="800" kern="100" dirty="0">
                        <a:effectLst/>
                        <a:latin typeface="Arial Narrow" panose="020B0606020202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/>
                      <a:r>
                        <a:rPr lang="en-US" sz="800" kern="10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Some effort has been put in;</a:t>
                      </a:r>
                      <a:r>
                        <a:rPr lang="en-US" sz="800" kern="100" baseline="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 preparation was done, but sufficient</a:t>
                      </a:r>
                      <a:endParaRPr lang="en-US" sz="800" kern="100" dirty="0">
                        <a:effectLst/>
                        <a:latin typeface="Arial Narrow" panose="020B0606020202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/>
                      <a:r>
                        <a:rPr lang="en-US" sz="800" kern="10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Little effort has been put in;</a:t>
                      </a:r>
                      <a:r>
                        <a:rPr lang="en-US" sz="800" kern="100" baseline="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 not well prepared for the evaluation</a:t>
                      </a:r>
                      <a:endParaRPr lang="en-US" sz="800" kern="100" dirty="0">
                        <a:effectLst/>
                        <a:latin typeface="Arial Narrow" panose="020B0606020202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eaLnBrk="0" latinLnBrk="0" hangingPunct="0"/>
                      <a:r>
                        <a:rPr lang="en-US" sz="800" kern="10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No effort has been put in;</a:t>
                      </a:r>
                      <a:r>
                        <a:rPr lang="en-US" sz="800" kern="100" baseline="0" dirty="0">
                          <a:effectLst/>
                          <a:latin typeface="Arial Narrow" panose="020B0606020202030204" pitchFamily="34" charset="0"/>
                          <a:ea typeface="Malgun Gothic" panose="020B0503020000020004" pitchFamily="34" charset="-127"/>
                          <a:cs typeface="Calibri" panose="020F0502020204030204" pitchFamily="34" charset="0"/>
                        </a:rPr>
                        <a:t> fully unprepared for the evaluation</a:t>
                      </a:r>
                      <a:endParaRPr lang="en-US" sz="800" kern="100" dirty="0">
                        <a:effectLst/>
                        <a:latin typeface="Arial Narrow" panose="020B0606020202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9597219"/>
                  </a:ext>
                </a:extLst>
              </a:tr>
            </a:tbl>
          </a:graphicData>
        </a:graphic>
      </p:graphicFrame>
      <p:grpSp>
        <p:nvGrpSpPr>
          <p:cNvPr id="10" name="Report_Header">
            <a:extLst>
              <a:ext uri="{FF2B5EF4-FFF2-40B4-BE49-F238E27FC236}">
                <a16:creationId xmlns:a16="http://schemas.microsoft.com/office/drawing/2014/main" id="{AF78C68F-973E-07EF-16C4-B25B3519B5FA}"/>
              </a:ext>
            </a:extLst>
          </p:cNvPr>
          <p:cNvGrpSpPr/>
          <p:nvPr/>
        </p:nvGrpSpPr>
        <p:grpSpPr>
          <a:xfrm>
            <a:off x="1295400" y="183722"/>
            <a:ext cx="5334051" cy="1811678"/>
            <a:chOff x="1295400" y="183722"/>
            <a:chExt cx="5334051" cy="1811678"/>
          </a:xfrm>
        </p:grpSpPr>
        <p:sp>
          <p:nvSpPr>
            <p:cNvPr id="11" name="Overall_Grade">
              <a:extLst>
                <a:ext uri="{FF2B5EF4-FFF2-40B4-BE49-F238E27FC236}">
                  <a16:creationId xmlns:a16="http://schemas.microsoft.com/office/drawing/2014/main" id="{B41FD8A3-4F90-4F7F-0768-9E91A6581180}"/>
                </a:ext>
              </a:extLst>
            </p:cNvPr>
            <p:cNvSpPr txBox="1"/>
            <p:nvPr/>
          </p:nvSpPr>
          <p:spPr>
            <a:xfrm>
              <a:off x="5243513" y="1345377"/>
              <a:ext cx="13859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2400" b="1" dirty="0">
                <a:latin typeface="Arial Black" panose="020B0A04020102020204" pitchFamily="34" charset="0"/>
              </a:endParaRPr>
            </a:p>
          </p:txBody>
        </p:sp>
        <p:sp>
          <p:nvSpPr>
            <p:cNvPr id="12" name="Korean_Teacher">
              <a:extLst>
                <a:ext uri="{FF2B5EF4-FFF2-40B4-BE49-F238E27FC236}">
                  <a16:creationId xmlns:a16="http://schemas.microsoft.com/office/drawing/2014/main" id="{FCB018D6-C08F-20D4-36B4-94B541BCF619}"/>
                </a:ext>
              </a:extLst>
            </p:cNvPr>
            <p:cNvSpPr txBox="1"/>
            <p:nvPr/>
          </p:nvSpPr>
          <p:spPr>
            <a:xfrm>
              <a:off x="4219576" y="1687622"/>
              <a:ext cx="952500" cy="307777"/>
            </a:xfrm>
            <a:prstGeom prst="rect">
              <a:avLst/>
            </a:prstGeom>
            <a:noFill/>
          </p:spPr>
          <p:txBody>
            <a:bodyPr wrap="square" lIns="0" tIns="18288" rIns="18288" bIns="18288" rtlCol="0" anchor="ctr" anchorCtr="0">
              <a:normAutofit/>
            </a:bodyPr>
            <a:lstStyle/>
            <a:p>
              <a:endParaRPr lang="ko-KR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Native_Teacher">
              <a:extLst>
                <a:ext uri="{FF2B5EF4-FFF2-40B4-BE49-F238E27FC236}">
                  <a16:creationId xmlns:a16="http://schemas.microsoft.com/office/drawing/2014/main" id="{5C6FD8AC-D537-49DB-9C11-0A779C51B317}"/>
                </a:ext>
              </a:extLst>
            </p:cNvPr>
            <p:cNvSpPr txBox="1"/>
            <p:nvPr/>
          </p:nvSpPr>
          <p:spPr>
            <a:xfrm>
              <a:off x="1295400" y="1687622"/>
              <a:ext cx="1690686" cy="307778"/>
            </a:xfrm>
            <a:prstGeom prst="rect">
              <a:avLst/>
            </a:prstGeom>
            <a:noFill/>
          </p:spPr>
          <p:txBody>
            <a:bodyPr wrap="square" lIns="0" tIns="18288" rIns="18288" bIns="18288" rtlCol="0" anchor="ctr">
              <a:normAutofit/>
            </a:bodyPr>
            <a:lstStyle/>
            <a:p>
              <a:endParaRPr lang="ko-KR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Korean_Name">
              <a:extLst>
                <a:ext uri="{FF2B5EF4-FFF2-40B4-BE49-F238E27FC236}">
                  <a16:creationId xmlns:a16="http://schemas.microsoft.com/office/drawing/2014/main" id="{9E484B32-4FD0-5E5E-F716-4F4627F45491}"/>
                </a:ext>
              </a:extLst>
            </p:cNvPr>
            <p:cNvSpPr txBox="1"/>
            <p:nvPr/>
          </p:nvSpPr>
          <p:spPr>
            <a:xfrm>
              <a:off x="4219576" y="1309881"/>
              <a:ext cx="952500" cy="307777"/>
            </a:xfrm>
            <a:prstGeom prst="rect">
              <a:avLst/>
            </a:prstGeom>
            <a:noFill/>
          </p:spPr>
          <p:txBody>
            <a:bodyPr wrap="square" lIns="0" tIns="18288" rIns="18288" bIns="18288" rtlCol="0" anchor="ctr" anchorCtr="0">
              <a:normAutofit/>
            </a:bodyPr>
            <a:lstStyle/>
            <a:p>
              <a:endParaRPr lang="ko-KR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English_Name">
              <a:extLst>
                <a:ext uri="{FF2B5EF4-FFF2-40B4-BE49-F238E27FC236}">
                  <a16:creationId xmlns:a16="http://schemas.microsoft.com/office/drawing/2014/main" id="{A8BB4368-1D71-E910-1597-0AB71C1BFD9C}"/>
                </a:ext>
              </a:extLst>
            </p:cNvPr>
            <p:cNvSpPr txBox="1"/>
            <p:nvPr/>
          </p:nvSpPr>
          <p:spPr>
            <a:xfrm>
              <a:off x="1295400" y="1309881"/>
              <a:ext cx="1690688" cy="307777"/>
            </a:xfrm>
            <a:prstGeom prst="rect">
              <a:avLst/>
            </a:prstGeom>
            <a:noFill/>
          </p:spPr>
          <p:txBody>
            <a:bodyPr wrap="square" lIns="0" tIns="18288" rIns="18288" bIns="18288" rtlCol="0" anchor="ctr" anchorCtr="0">
              <a:normAutofit/>
            </a:bodyPr>
            <a:lstStyle/>
            <a:p>
              <a:endParaRPr lang="ko-KR" altLang="en-US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Grade_Level">
              <a:extLst>
                <a:ext uri="{FF2B5EF4-FFF2-40B4-BE49-F238E27FC236}">
                  <a16:creationId xmlns:a16="http://schemas.microsoft.com/office/drawing/2014/main" id="{2D2A13BC-999A-A688-DD4E-73CE95310090}"/>
                </a:ext>
              </a:extLst>
            </p:cNvPr>
            <p:cNvSpPr txBox="1"/>
            <p:nvPr/>
          </p:nvSpPr>
          <p:spPr>
            <a:xfrm>
              <a:off x="5261983" y="671348"/>
              <a:ext cx="12246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latin typeface="Arial Narrow" panose="020B0606020202030204" pitchFamily="34" charset="0"/>
                </a:rPr>
                <a:t>Grade + Level</a:t>
              </a:r>
              <a:endParaRPr lang="ko-KR" altLang="en-US" sz="1400" b="1" dirty="0">
                <a:latin typeface="Arial Narrow" panose="020B0606020202030204" pitchFamily="34" charset="0"/>
              </a:endParaRPr>
            </a:p>
          </p:txBody>
        </p:sp>
        <p:sp>
          <p:nvSpPr>
            <p:cNvPr id="17" name="Eval_Date">
              <a:extLst>
                <a:ext uri="{FF2B5EF4-FFF2-40B4-BE49-F238E27FC236}">
                  <a16:creationId xmlns:a16="http://schemas.microsoft.com/office/drawing/2014/main" id="{F062C7C1-5D57-DFEB-F837-A91DC5B7BB3D}"/>
                </a:ext>
              </a:extLst>
            </p:cNvPr>
            <p:cNvSpPr txBox="1">
              <a:spLocks/>
            </p:cNvSpPr>
            <p:nvPr/>
          </p:nvSpPr>
          <p:spPr>
            <a:xfrm>
              <a:off x="4897169" y="183722"/>
              <a:ext cx="15887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400" b="1" dirty="0">
                  <a:latin typeface="Arial Narrow" panose="020B0606020202030204" pitchFamily="34" charset="0"/>
                </a:rPr>
                <a:t>Month + Year</a:t>
              </a:r>
              <a:endParaRPr lang="ko-KR" altLang="en-US" sz="1400" b="1" dirty="0">
                <a:latin typeface="Arial Narrow" panose="020B0606020202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3366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mments"/>
          <p:cNvSpPr txBox="1"/>
          <p:nvPr/>
        </p:nvSpPr>
        <p:spPr>
          <a:xfrm>
            <a:off x="223802" y="1703883"/>
            <a:ext cx="641039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500" dirty="0">
                <a:solidFill>
                  <a:schemeClr val="tx1"/>
                </a:solidFill>
                <a:latin typeface="Just Another Hand" panose="02000506000000020003" pitchFamily="2" charset="0"/>
                <a:ea typeface="A little sunshine" panose="02000603000000000000" pitchFamily="2" charset="0"/>
                <a:cs typeface="Arial" panose="020B0604020202020204" pitchFamily="34" charset="0"/>
              </a:rPr>
              <a:t>Comment</a:t>
            </a:r>
          </a:p>
        </p:txBody>
      </p:sp>
    </p:spTree>
    <p:extLst>
      <p:ext uri="{BB962C8B-B14F-4D97-AF65-F5344CB8AC3E}">
        <p14:creationId xmlns:p14="http://schemas.microsoft.com/office/powerpoint/2010/main" val="586895683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220</TotalTime>
  <Words>512</Words>
  <Application>Microsoft Office PowerPoint</Application>
  <PresentationFormat>A4 Paper (210x297 mm)</PresentationFormat>
  <Paragraphs>107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 Black</vt:lpstr>
      <vt:lpstr>Wingdings</vt:lpstr>
      <vt:lpstr>Just Another Hand</vt:lpstr>
      <vt:lpstr>Arial Narrow</vt:lpstr>
      <vt:lpstr>Symbol</vt:lpstr>
      <vt:lpstr>Arial</vt:lpstr>
      <vt:lpstr>Master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Warren Feltmate</cp:lastModifiedBy>
  <cp:revision>29</cp:revision>
  <cp:lastPrinted>2026-01-30T07:03:06Z</cp:lastPrinted>
  <dcterms:created xsi:type="dcterms:W3CDTF">2026-01-30T03:11:47Z</dcterms:created>
  <dcterms:modified xsi:type="dcterms:W3CDTF">2026-02-03T17:01:16Z</dcterms:modified>
</cp:coreProperties>
</file>