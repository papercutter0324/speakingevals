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58" r:id="rId2"/>
    <p:sldId id="261" r:id="rId3"/>
  </p:sldIdLst>
  <p:sldSz cx="6858000" cy="9906000" type="A4"/>
  <p:notesSz cx="6735763" cy="9866313"/>
  <p:embeddedFontLst>
    <p:embeddedFont>
      <p:font typeface="Arial Black" panose="020B0A04020102020204" pitchFamily="34" charset="0"/>
      <p:bold r:id="rId4"/>
    </p:embeddedFont>
    <p:embeddedFont>
      <p:font typeface="Arial Narrow" panose="020B0606020202030204" pitchFamily="34" charset="0"/>
      <p:regular r:id="rId5"/>
      <p:bold r:id="rId6"/>
      <p:italic r:id="rId7"/>
      <p:boldItalic r:id="rId8"/>
    </p:embeddedFont>
    <p:embeddedFont>
      <p:font typeface="Just Another Hand" panose="02000506000000020003" pitchFamily="2" charset="0"/>
      <p:regular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11116"/>
    <a:srgbClr val="E5E5E7"/>
    <a:srgbClr val="D6D6D8"/>
    <a:srgbClr val="6D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B8462-9961-4211-AD83-C50E9356B157}" v="3" dt="2026-02-07T15:11:11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4" autoAdjust="0"/>
    <p:restoredTop sz="94660"/>
  </p:normalViewPr>
  <p:slideViewPr>
    <p:cSldViewPr snapToGrid="0">
      <p:cViewPr varScale="1">
        <p:scale>
          <a:sx n="55" d="100"/>
          <a:sy n="55" d="100"/>
        </p:scale>
        <p:origin x="32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ing 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mments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3887630541"/>
              </p:ext>
            </p:extLst>
          </p:nvPr>
        </p:nvGraphicFramePr>
        <p:xfrm>
          <a:off x="219053" y="8008376"/>
          <a:ext cx="6419895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코멘트</a:t>
                      </a:r>
                      <a:endParaRPr lang="ko-KR" altLang="en-US" sz="105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33" name="Signature Label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21862" y="9510205"/>
            <a:ext cx="1723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B11116"/>
                </a:solidFill>
                <a:latin typeface="Arial Narrow" panose="020B0606020202030204" pitchFamily="34" charset="0"/>
              </a:rPr>
              <a:t>Native Teacher Signature:</a:t>
            </a:r>
            <a:endParaRPr lang="ko-KR" altLang="en-US" sz="1200" b="1" dirty="0">
              <a:solidFill>
                <a:srgbClr val="B11116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0" name="Overall_Grade">
            <a:extLst>
              <a:ext uri="{FF2B5EF4-FFF2-40B4-BE49-F238E27FC236}">
                <a16:creationId xmlns:a16="http://schemas.microsoft.com/office/drawing/2014/main" id="{96EED462-4ACF-CCEB-4633-84F08650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45055" y="1298675"/>
            <a:ext cx="1384398" cy="696724"/>
            <a:chOff x="5245055" y="1298675"/>
            <a:chExt cx="1384398" cy="696724"/>
          </a:xfrm>
        </p:grpSpPr>
        <p:sp>
          <p:nvSpPr>
            <p:cNvPr id="21" name="Background">
              <a:extLst>
                <a:ext uri="{FF2B5EF4-FFF2-40B4-BE49-F238E27FC236}">
                  <a16:creationId xmlns:a16="http://schemas.microsoft.com/office/drawing/2014/main" id="{89350671-E684-4118-8B84-D6CF9F93EA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6" y="1298675"/>
              <a:ext cx="1384397" cy="696724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Label">
              <a:extLst>
                <a:ext uri="{FF2B5EF4-FFF2-40B4-BE49-F238E27FC236}">
                  <a16:creationId xmlns:a16="http://schemas.microsoft.com/office/drawing/2014/main" id="{E81025A5-3FA5-DD11-D382-851C61539A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5" y="1718400"/>
              <a:ext cx="1383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OVERALL GRADE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" name="Korean Teacher">
            <a:extLst>
              <a:ext uri="{FF2B5EF4-FFF2-40B4-BE49-F238E27FC236}">
                <a16:creationId xmlns:a16="http://schemas.microsoft.com/office/drawing/2014/main" id="{AD43325E-F756-5F88-BA8B-43A2DD9FACB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682019"/>
            <a:ext cx="2113653" cy="318983"/>
            <a:chOff x="2746512" y="1682019"/>
            <a:chExt cx="2120761" cy="318983"/>
          </a:xfrm>
        </p:grpSpPr>
        <p:sp>
          <p:nvSpPr>
            <p:cNvPr id="16" name="Background">
              <a:extLst>
                <a:ext uri="{FF2B5EF4-FFF2-40B4-BE49-F238E27FC236}">
                  <a16:creationId xmlns:a16="http://schemas.microsoft.com/office/drawing/2014/main" id="{AB546B3D-8343-D972-5B79-ABE3A88128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682019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4671CC89-A775-F458-DE6C-D1BEDC4D75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3" y="1703011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2" name="Native Teacher">
            <a:extLst>
              <a:ext uri="{FF2B5EF4-FFF2-40B4-BE49-F238E27FC236}">
                <a16:creationId xmlns:a16="http://schemas.microsoft.com/office/drawing/2014/main" id="{D964476F-01AB-17E2-0F53-84E8B01E6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0" y="1682019"/>
            <a:ext cx="2763556" cy="318983"/>
            <a:chOff x="221881" y="1682019"/>
            <a:chExt cx="2426071" cy="318983"/>
          </a:xfrm>
        </p:grpSpPr>
        <p:sp>
          <p:nvSpPr>
            <p:cNvPr id="13" name="Background">
              <a:extLst>
                <a:ext uri="{FF2B5EF4-FFF2-40B4-BE49-F238E27FC236}">
                  <a16:creationId xmlns:a16="http://schemas.microsoft.com/office/drawing/2014/main" id="{287B7878-2464-EAD5-55F6-92D296DEB3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2" y="1682019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Label">
              <a:extLst>
                <a:ext uri="{FF2B5EF4-FFF2-40B4-BE49-F238E27FC236}">
                  <a16:creationId xmlns:a16="http://schemas.microsoft.com/office/drawing/2014/main" id="{1956C3E6-F74C-5CCF-0305-310EF5AE7F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703011"/>
              <a:ext cx="925698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Native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9" name="Korean Name">
            <a:extLst>
              <a:ext uri="{FF2B5EF4-FFF2-40B4-BE49-F238E27FC236}">
                <a16:creationId xmlns:a16="http://schemas.microsoft.com/office/drawing/2014/main" id="{4E17706F-EF70-E046-E349-F0C97F3A73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304278"/>
            <a:ext cx="2113653" cy="318983"/>
            <a:chOff x="2746512" y="1304278"/>
            <a:chExt cx="2120761" cy="318983"/>
          </a:xfrm>
        </p:grpSpPr>
        <p:sp>
          <p:nvSpPr>
            <p:cNvPr id="10" name="Background">
              <a:extLst>
                <a:ext uri="{FF2B5EF4-FFF2-40B4-BE49-F238E27FC236}">
                  <a16:creationId xmlns:a16="http://schemas.microsoft.com/office/drawing/2014/main" id="{3CA407C4-7D1F-C98B-5AFB-472C26A23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304278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Label">
              <a:extLst>
                <a:ext uri="{FF2B5EF4-FFF2-40B4-BE49-F238E27FC236}">
                  <a16:creationId xmlns:a16="http://schemas.microsoft.com/office/drawing/2014/main" id="{8F21A0AA-D8BB-CD9C-C612-F5ACF86B7F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4" y="1325270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6" name="English Name">
            <a:extLst>
              <a:ext uri="{FF2B5EF4-FFF2-40B4-BE49-F238E27FC236}">
                <a16:creationId xmlns:a16="http://schemas.microsoft.com/office/drawing/2014/main" id="{90C35B8F-A8A4-8ABB-FE31-CDFBC966B43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1" y="1304278"/>
            <a:ext cx="2763556" cy="318983"/>
            <a:chOff x="221881" y="1304278"/>
            <a:chExt cx="2426072" cy="318983"/>
          </a:xfrm>
        </p:grpSpPr>
        <p:sp>
          <p:nvSpPr>
            <p:cNvPr id="7" name="Background">
              <a:extLst>
                <a:ext uri="{FF2B5EF4-FFF2-40B4-BE49-F238E27FC236}">
                  <a16:creationId xmlns:a16="http://schemas.microsoft.com/office/drawing/2014/main" id="{A6C5E523-6407-73A9-28A2-128CD5739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3" y="1304278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Label">
              <a:extLst>
                <a:ext uri="{FF2B5EF4-FFF2-40B4-BE49-F238E27FC236}">
                  <a16:creationId xmlns:a16="http://schemas.microsoft.com/office/drawing/2014/main" id="{FF0F65F1-593C-338B-E5B8-ECC1472B8E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325270"/>
              <a:ext cx="925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English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4" name="Report Header">
            <a:extLst>
              <a:ext uri="{FF2B5EF4-FFF2-40B4-BE49-F238E27FC236}">
                <a16:creationId xmlns:a16="http://schemas.microsoft.com/office/drawing/2014/main" id="{3B0C9DDE-3285-0F74-1E0F-6F998745118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867275" y="178119"/>
            <a:ext cx="1648562" cy="806609"/>
            <a:chOff x="4867275" y="178119"/>
            <a:chExt cx="1648562" cy="806609"/>
          </a:xfrm>
        </p:grpSpPr>
        <p:sp>
          <p:nvSpPr>
            <p:cNvPr id="18" name="Eval Date Background">
              <a:extLst>
                <a:ext uri="{FF2B5EF4-FFF2-40B4-BE49-F238E27FC236}">
                  <a16:creationId xmlns:a16="http://schemas.microsoft.com/office/drawing/2014/main" id="{78252F05-685D-FD6D-8DF0-F3C63E4CD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867275" y="178119"/>
              <a:ext cx="1648562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Grade-Level Background">
              <a:extLst>
                <a:ext uri="{FF2B5EF4-FFF2-40B4-BE49-F238E27FC236}">
                  <a16:creationId xmlns:a16="http://schemas.microsoft.com/office/drawing/2014/main" id="{1443E3C0-F69F-C77D-83B9-585A01CA78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245057" y="665745"/>
              <a:ext cx="1270780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73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ditional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mments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66332519"/>
              </p:ext>
            </p:extLst>
          </p:nvPr>
        </p:nvGraphicFramePr>
        <p:xfrm>
          <a:off x="219053" y="1442476"/>
          <a:ext cx="6419895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코멘트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75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Report Header">
            <a:extLst>
              <a:ext uri="{FF2B5EF4-FFF2-40B4-BE49-F238E27FC236}">
                <a16:creationId xmlns:a16="http://schemas.microsoft.com/office/drawing/2014/main" id="{651285F7-BE09-D814-8A49-482B7C152DE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6858001" cy="1196340"/>
            <a:chOff x="0" y="0"/>
            <a:chExt cx="6858001" cy="1196340"/>
          </a:xfrm>
        </p:grpSpPr>
        <p:sp>
          <p:nvSpPr>
            <p:cNvPr id="3" name="DYB Logo Background">
              <a:extLst>
                <a:ext uri="{FF2B5EF4-FFF2-40B4-BE49-F238E27FC236}">
                  <a16:creationId xmlns:a16="http://schemas.microsoft.com/office/drawing/2014/main" id="{83F7463C-C048-A3A5-A4FD-528D37C8B2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76350" cy="1196340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DYB Logo">
              <a:extLst>
                <a:ext uri="{FF2B5EF4-FFF2-40B4-BE49-F238E27FC236}">
                  <a16:creationId xmlns:a16="http://schemas.microsoft.com/office/drawing/2014/main" id="{20A19BA7-F7B0-689D-3F8A-121BC02C428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80" y="206490"/>
              <a:ext cx="966369" cy="791971"/>
            </a:xfrm>
            <a:prstGeom prst="rect">
              <a:avLst/>
            </a:prstGeom>
          </p:spPr>
        </p:pic>
        <p:sp>
          <p:nvSpPr>
            <p:cNvPr id="5" name="Report Header Background">
              <a:extLst>
                <a:ext uri="{FF2B5EF4-FFF2-40B4-BE49-F238E27FC236}">
                  <a16:creationId xmlns:a16="http://schemas.microsoft.com/office/drawing/2014/main" id="{6A9DFC88-6674-522E-8786-40CAFB403B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76350" y="1"/>
              <a:ext cx="5581651" cy="1195833"/>
            </a:xfrm>
            <a:prstGeom prst="rect">
              <a:avLst/>
            </a:prstGeom>
            <a:solidFill>
              <a:srgbClr val="B1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port Header Text">
              <a:extLst>
                <a:ext uri="{FF2B5EF4-FFF2-40B4-BE49-F238E27FC236}">
                  <a16:creationId xmlns:a16="http://schemas.microsoft.com/office/drawing/2014/main" id="{CED87104-3492-8E83-86F1-FDCBAC9E2B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503636" y="59307"/>
              <a:ext cx="31631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SPEAKING</a:t>
              </a:r>
            </a:p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</a:t>
              </a:r>
              <a:endParaRPr lang="ko-KR" altLang="en-US" sz="3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33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mments"/>
          <p:cNvSpPr txBox="1"/>
          <p:nvPr/>
        </p:nvSpPr>
        <p:spPr>
          <a:xfrm>
            <a:off x="223802" y="82697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500" dirty="0">
                <a:latin typeface="Just Another Hand" panose="02000506000000020003" pitchFamily="2" charset="0"/>
                <a:cs typeface="Arial" panose="020B0604020202020204" pitchFamily="34" charset="0"/>
              </a:rPr>
              <a:t>Comment</a:t>
            </a:r>
            <a:endParaRPr lang="ko-KR" altLang="en-US" sz="1500" dirty="0">
              <a:latin typeface="Just Another Hand" panose="0200050600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6" name="Repor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41403"/>
              </p:ext>
            </p:extLst>
          </p:nvPr>
        </p:nvGraphicFramePr>
        <p:xfrm>
          <a:off x="229026" y="2124329"/>
          <a:ext cx="640042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24">
                  <a:extLst>
                    <a:ext uri="{9D8B030D-6E8A-4147-A177-3AD203B41FA5}">
                      <a16:colId xmlns:a16="http://schemas.microsoft.com/office/drawing/2014/main" val="24791101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806264517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27776177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83331042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662001239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534224506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36958254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Grammar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문법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20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Subject-Verb Agreement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Pronouns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Correct Vocabulary Use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Sentence Structure</a:t>
                      </a:r>
                      <a:endParaRPr kumimoji="0" lang="en-US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Applies advanced grammar concepts accurately; little to no grammar errors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Advanced grammar concepts are used, but with some errors; sometimes mistakes nuances in articles, prepositions, etc.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Unsure about how to use advanced grammar concepts correctly; frequently making mistakes in basic grammar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Only basic sentence structures are used; many errors in basic concepts like verb tenses and agreement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An abundance of grammar errors impedes  comprehension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7999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Pronunciation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발음</a:t>
                      </a:r>
                      <a:endParaRPr kumimoji="0" lang="en-US" altLang="ko-KR" sz="105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of </a:t>
                      </a:r>
                      <a:r>
                        <a:rPr kumimoji="0" lang="en-US" altLang="ko-KR" sz="6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Konglish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Clarity / Mumbling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Difficult Vocabulary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Syllable Division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Proper Syllable Emphasis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pronunciation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with no errors that impede vocabulary comprehension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Good overall pronunciation, but some occasional odd words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Understandable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pronunciation, but some errors in specific sounds, letters, or syllable division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Pronunciation errors in both advanced and basic vocabulary; beginning to impede understanding</a:t>
                      </a:r>
                      <a:endParaRPr lang="en-US" sz="12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Excessive use of Konglish;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many words are not comprehensible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214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Fluency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유창성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1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Flow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Varying Intonation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Speaking Pace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Pausing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flow and appropriate pausing; dynamic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range of tone; speaks with an engaging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Decent flow with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appropriate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pausing; Some range of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awkward pauses in the middle of sentences; most sentences spoken with the same intonation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Overuse of filler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ords (umm/like); some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long pauses begin to impede listener understanding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Stopped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speaking suddenly and could not resume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439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Manner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태도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Eye Contact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Emotion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Posture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Body Language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Gestures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Consistent eye contact across the audience;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gestures and emotion;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confident body language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Often makes eye contact and uses some gestures;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developing relevant emotion in speech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eye contact and an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attempt at using gestures; lacking in relevant  emotion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Rarely makes eye contact; overreliance on notes; stiff body language;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flat emotion throughout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 eye contact;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volume is too soft to hear well; no use of gestures; completely relies on script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46778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Content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4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Reasons &amp; Examples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Logic &amp; Relevance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Level of Vocabulary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Logical arguments and organization of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Relevant information,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but lacking explanation, detail, or examples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Reliance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on basic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vocabulary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Organization needs improvement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Content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was irrelevant or unsupported; only very basic vocabulary used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8836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Overall Effort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준비도</a:t>
                      </a:r>
                      <a:endParaRPr kumimoji="0" lang="en-US" altLang="ko-KR" sz="10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0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Effort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Prepared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Memorization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Visual Aids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excellent and thorough preparation was done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clear evidence of preparation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preparation was done, but sufficient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not well 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fully unprepared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597219"/>
                  </a:ext>
                </a:extLst>
              </a:tr>
            </a:tbl>
          </a:graphicData>
        </a:graphic>
      </p:graphicFrame>
      <p:grpSp>
        <p:nvGrpSpPr>
          <p:cNvPr id="10" name="Report_Header">
            <a:extLst>
              <a:ext uri="{FF2B5EF4-FFF2-40B4-BE49-F238E27FC236}">
                <a16:creationId xmlns:a16="http://schemas.microsoft.com/office/drawing/2014/main" id="{AF78C68F-973E-07EF-16C4-B25B3519B5FA}"/>
              </a:ext>
            </a:extLst>
          </p:cNvPr>
          <p:cNvGrpSpPr/>
          <p:nvPr/>
        </p:nvGrpSpPr>
        <p:grpSpPr>
          <a:xfrm>
            <a:off x="1295400" y="183722"/>
            <a:ext cx="5334051" cy="1811678"/>
            <a:chOff x="1295400" y="183722"/>
            <a:chExt cx="5334051" cy="1811678"/>
          </a:xfrm>
        </p:grpSpPr>
        <p:sp>
          <p:nvSpPr>
            <p:cNvPr id="11" name="Overall_Grade">
              <a:extLst>
                <a:ext uri="{FF2B5EF4-FFF2-40B4-BE49-F238E27FC236}">
                  <a16:creationId xmlns:a16="http://schemas.microsoft.com/office/drawing/2014/main" id="{B41FD8A3-4F90-4F7F-0768-9E91A6581180}"/>
                </a:ext>
              </a:extLst>
            </p:cNvPr>
            <p:cNvSpPr txBox="1"/>
            <p:nvPr/>
          </p:nvSpPr>
          <p:spPr>
            <a:xfrm>
              <a:off x="5243513" y="1345377"/>
              <a:ext cx="1385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2400" b="1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Korean_Teacher">
              <a:extLst>
                <a:ext uri="{FF2B5EF4-FFF2-40B4-BE49-F238E27FC236}">
                  <a16:creationId xmlns:a16="http://schemas.microsoft.com/office/drawing/2014/main" id="{FCB018D6-C08F-20D4-36B4-94B541BCF619}"/>
                </a:ext>
              </a:extLst>
            </p:cNvPr>
            <p:cNvSpPr txBox="1"/>
            <p:nvPr/>
          </p:nvSpPr>
          <p:spPr>
            <a:xfrm>
              <a:off x="4219576" y="1687622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Native_Teacher">
              <a:extLst>
                <a:ext uri="{FF2B5EF4-FFF2-40B4-BE49-F238E27FC236}">
                  <a16:creationId xmlns:a16="http://schemas.microsoft.com/office/drawing/2014/main" id="{5C6FD8AC-D537-49DB-9C11-0A779C51B317}"/>
                </a:ext>
              </a:extLst>
            </p:cNvPr>
            <p:cNvSpPr txBox="1"/>
            <p:nvPr/>
          </p:nvSpPr>
          <p:spPr>
            <a:xfrm>
              <a:off x="1295400" y="1687622"/>
              <a:ext cx="1690686" cy="307778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Korean_Name">
              <a:extLst>
                <a:ext uri="{FF2B5EF4-FFF2-40B4-BE49-F238E27FC236}">
                  <a16:creationId xmlns:a16="http://schemas.microsoft.com/office/drawing/2014/main" id="{9E484B32-4FD0-5E5E-F716-4F4627F45491}"/>
                </a:ext>
              </a:extLst>
            </p:cNvPr>
            <p:cNvSpPr txBox="1"/>
            <p:nvPr/>
          </p:nvSpPr>
          <p:spPr>
            <a:xfrm>
              <a:off x="4219576" y="1309881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English_Name">
              <a:extLst>
                <a:ext uri="{FF2B5EF4-FFF2-40B4-BE49-F238E27FC236}">
                  <a16:creationId xmlns:a16="http://schemas.microsoft.com/office/drawing/2014/main" id="{A8BB4368-1D71-E910-1597-0AB71C1BFD9C}"/>
                </a:ext>
              </a:extLst>
            </p:cNvPr>
            <p:cNvSpPr txBox="1"/>
            <p:nvPr/>
          </p:nvSpPr>
          <p:spPr>
            <a:xfrm>
              <a:off x="1295400" y="1309881"/>
              <a:ext cx="1690688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Grade_Level">
              <a:extLst>
                <a:ext uri="{FF2B5EF4-FFF2-40B4-BE49-F238E27FC236}">
                  <a16:creationId xmlns:a16="http://schemas.microsoft.com/office/drawing/2014/main" id="{2D2A13BC-999A-A688-DD4E-73CE95310090}"/>
                </a:ext>
              </a:extLst>
            </p:cNvPr>
            <p:cNvSpPr txBox="1"/>
            <p:nvPr/>
          </p:nvSpPr>
          <p:spPr>
            <a:xfrm>
              <a:off x="5261983" y="671348"/>
              <a:ext cx="12246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E# Level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7" name="Eval_Date">
              <a:extLst>
                <a:ext uri="{FF2B5EF4-FFF2-40B4-BE49-F238E27FC236}">
                  <a16:creationId xmlns:a16="http://schemas.microsoft.com/office/drawing/2014/main" id="{F062C7C1-5D57-DFEB-F837-A91DC5B7BB3D}"/>
                </a:ext>
              </a:extLst>
            </p:cNvPr>
            <p:cNvSpPr txBox="1">
              <a:spLocks/>
            </p:cNvSpPr>
            <p:nvPr/>
          </p:nvSpPr>
          <p:spPr>
            <a:xfrm>
              <a:off x="4897169" y="183722"/>
              <a:ext cx="15887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Month Year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36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ments"/>
          <p:cNvSpPr txBox="1"/>
          <p:nvPr/>
        </p:nvSpPr>
        <p:spPr>
          <a:xfrm>
            <a:off x="223802" y="17038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chemeClr val="tx1"/>
                </a:solidFill>
                <a:latin typeface="Just Another Hand" panose="02000506000000020003" pitchFamily="2" charset="0"/>
                <a:ea typeface="A little sunshine" panose="02000603000000000000" pitchFamily="2" charset="0"/>
                <a:cs typeface="Arial" panose="020B0604020202020204" pitchFamily="34" charset="0"/>
              </a:rPr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5868956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511</Words>
  <Application>Microsoft Office PowerPoint</Application>
  <PresentationFormat>A4 Paper (210x297 mm)</PresentationFormat>
  <Paragraphs>107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Arial Black</vt:lpstr>
      <vt:lpstr>Wingdings</vt:lpstr>
      <vt:lpstr>Just Another Hand</vt:lpstr>
      <vt:lpstr>Arial Narrow</vt:lpstr>
      <vt:lpstr>Symbol</vt:lpstr>
      <vt:lpstr>Master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Warren Feltmate</cp:lastModifiedBy>
  <cp:revision>30</cp:revision>
  <cp:lastPrinted>2026-01-30T07:03:06Z</cp:lastPrinted>
  <dcterms:created xsi:type="dcterms:W3CDTF">2026-01-30T03:11:47Z</dcterms:created>
  <dcterms:modified xsi:type="dcterms:W3CDTF">2026-02-07T15:16:02Z</dcterms:modified>
</cp:coreProperties>
</file>